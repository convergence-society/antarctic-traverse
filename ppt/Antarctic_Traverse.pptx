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97" r:id="rId3"/>
    <p:sldId id="298" r:id="rId4"/>
    <p:sldId id="299" r:id="rId5"/>
    <p:sldId id="300" r:id="rId6"/>
    <p:sldId id="301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979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557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50901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0222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6088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389580" y="408011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04800" y="-526757"/>
            <a:ext cx="10363200" cy="2076450"/>
          </a:xfrm>
        </p:spPr>
        <p:txBody>
          <a:bodyPr/>
          <a:lstStyle/>
          <a:p>
            <a:r>
              <a:rPr lang="en-US" sz="3500" b="1" dirty="0">
                <a:solidFill>
                  <a:schemeClr val="tx2"/>
                </a:solidFill>
                <a:latin typeface="Garamond" panose="02020404030301010803" pitchFamily="18" charset="0"/>
              </a:rPr>
              <a:t>      SMART INDIA HACKATHON 2026</a:t>
            </a:r>
            <a:endParaRPr lang="en-IN" sz="35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1450" y="1317322"/>
            <a:ext cx="5924550" cy="5055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ID: </a:t>
            </a:r>
            <a:r>
              <a:rPr lang="en-US" sz="2000" b="1" u="sng" dirty="0">
                <a:latin typeface="Arial" panose="020B0604020202020204" pitchFamily="34" charset="0"/>
                <a:cs typeface="Arial" panose="020B0604020202020204" pitchFamily="34" charset="0"/>
              </a:rPr>
              <a:t>SIH26059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AI-Enabled Antarctic Sea-Ice, Iceberg Trajectory, and Navigation Decision Support System.</a:t>
            </a: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Theme: </a:t>
            </a:r>
            <a:r>
              <a:rPr lang="en-IN" sz="2000" b="1" dirty="0">
                <a:latin typeface="Arial" panose="020B0604020202020204" pitchFamily="34" charset="0"/>
                <a:cs typeface="Arial" panose="020B0604020202020204" pitchFamily="34" charset="0"/>
              </a:rPr>
              <a:t>Transportation &amp; Logistics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Category: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ID: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Name: Odyssey Prime</a:t>
            </a:r>
            <a:endParaRPr lang="en-I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D50BFC-1BBF-97DC-9594-EE4182CEB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4327"/>
            <a:ext cx="1625127" cy="61428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" y="-461818"/>
            <a:ext cx="12191997" cy="1604818"/>
          </a:xfrm>
        </p:spPr>
        <p:txBody>
          <a:bodyPr/>
          <a:lstStyle/>
          <a:p>
            <a:pPr eaLnBrk="1" hangingPunct="1"/>
            <a:br>
              <a:rPr lang="en-US" sz="3600" b="1" dirty="0">
                <a:solidFill>
                  <a:srgbClr val="1F4E79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solidFill>
                  <a:srgbClr val="1F4E79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ANTARCTIC TRAVERSE</a:t>
            </a:r>
            <a:br>
              <a:rPr lang="en-US" sz="3600" b="1" dirty="0">
                <a:solidFill>
                  <a:srgbClr val="1F4E79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Predict the ice. Understand the risk. Traverse Antarctica safely.</a:t>
            </a:r>
            <a:endParaRPr lang="en-US" sz="1400" b="1" dirty="0">
              <a:solidFill>
                <a:srgbClr val="1F4E79"/>
              </a:solidFill>
              <a:latin typeface="Arial" panose="020B0604020202020204" pitchFamily="34" charset="0"/>
              <a:ea typeface="ＭＳ Ｐゴシック" pitchFamily="1" charset="-128"/>
              <a:cs typeface="Arial" panose="020B0604020202020204" pitchFamily="34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" y="1173054"/>
            <a:ext cx="12191997" cy="59477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sz="3200" b="1" u="sng" dirty="0">
                <a:solidFill>
                  <a:srgbClr val="1F4E79"/>
                </a:solidFill>
                <a:latin typeface="Arial"/>
              </a:rPr>
              <a:t>Proposed Solution</a:t>
            </a:r>
            <a:endParaRPr lang="en-IN" sz="3200" b="1" u="sng" dirty="0">
              <a:solidFill>
                <a:srgbClr val="1F4E79"/>
              </a:solidFill>
              <a:latin typeface="Arial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Aft>
                <a:spcPts val="300"/>
              </a:spcAft>
            </a:pPr>
            <a:r>
              <a:rPr sz="2500" dirty="0">
                <a:solidFill>
                  <a:srgbClr val="0F766E"/>
                </a:solidFill>
                <a:latin typeface="Arial"/>
              </a:rPr>
              <a:t>•  </a:t>
            </a:r>
            <a:r>
              <a:rPr sz="2500" b="1" dirty="0">
                <a:solidFill>
                  <a:srgbClr val="1F4E79"/>
                </a:solidFill>
                <a:latin typeface="Arial"/>
              </a:rPr>
              <a:t>Integrated Intelligence: </a:t>
            </a:r>
            <a:r>
              <a:rPr lang="en-US" altLang="en-US" sz="2450" dirty="0">
                <a:latin typeface="Arial" panose="020B0604020202020204" pitchFamily="34" charset="0"/>
              </a:rPr>
              <a:t>Antarctic Traverse integrates satellite, sea-ice, ocean, and weather data to forecast ice conditions, detect icebergs, and predict their movement.</a:t>
            </a:r>
          </a:p>
          <a:p>
            <a:pPr>
              <a:spcAft>
                <a:spcPts val="300"/>
              </a:spcAft>
            </a:pPr>
            <a:endParaRPr lang="en-IN" sz="2450" dirty="0">
              <a:solidFill>
                <a:srgbClr val="303A45"/>
              </a:solidFill>
              <a:latin typeface="Arial"/>
            </a:endParaRPr>
          </a:p>
          <a:p>
            <a:pPr>
              <a:spcAft>
                <a:spcPts val="300"/>
              </a:spcAft>
            </a:pPr>
            <a:r>
              <a:rPr lang="en-IN" sz="2500" dirty="0">
                <a:solidFill>
                  <a:srgbClr val="0F766E"/>
                </a:solidFill>
                <a:latin typeface="Arial"/>
              </a:rPr>
              <a:t>•  </a:t>
            </a:r>
            <a:r>
              <a:rPr lang="en-IN" sz="2500" b="1" dirty="0">
                <a:solidFill>
                  <a:srgbClr val="1F4E79"/>
                </a:solidFill>
                <a:latin typeface="Arial"/>
              </a:rPr>
              <a:t>From Prediction to Action: </a:t>
            </a:r>
            <a:r>
              <a:rPr lang="en-IN" sz="2450" dirty="0">
                <a:latin typeface="Arial" panose="020B0604020202020204" pitchFamily="34" charset="0"/>
                <a:cs typeface="Arial" panose="020B0604020202020204" pitchFamily="34" charset="0"/>
              </a:rPr>
              <a:t>These forecasts are transformed into a dynamic hazard and risk map to enable safer navigation for Antarctic research vessels.</a:t>
            </a:r>
          </a:p>
          <a:p>
            <a:pPr>
              <a:spcAft>
                <a:spcPts val="300"/>
              </a:spcAft>
            </a:pPr>
            <a:endParaRPr lang="en-IN" sz="2450" dirty="0">
              <a:solidFill>
                <a:srgbClr val="303A45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300"/>
              </a:spcAft>
            </a:pPr>
            <a:r>
              <a:rPr sz="2500" dirty="0">
                <a:solidFill>
                  <a:srgbClr val="0F766E"/>
                </a:solidFill>
                <a:latin typeface="Arial"/>
              </a:rPr>
              <a:t>•  </a:t>
            </a:r>
            <a:r>
              <a:rPr lang="en-IN" sz="2500" b="1" dirty="0">
                <a:solidFill>
                  <a:srgbClr val="1F4E79"/>
                </a:solidFill>
                <a:latin typeface="Arial"/>
              </a:rPr>
              <a:t>Unified Decision Support</a:t>
            </a:r>
            <a:r>
              <a:rPr sz="2500" b="1" dirty="0">
                <a:solidFill>
                  <a:srgbClr val="1F4E79"/>
                </a:solidFill>
                <a:latin typeface="Arial"/>
              </a:rPr>
              <a:t>:</a:t>
            </a:r>
            <a:r>
              <a:rPr lang="en-IN" sz="2500" b="1" dirty="0">
                <a:solidFill>
                  <a:srgbClr val="1F4E79"/>
                </a:solidFill>
                <a:latin typeface="Arial"/>
              </a:rPr>
              <a:t> </a:t>
            </a:r>
            <a:r>
              <a:rPr lang="en-IN" sz="2450" dirty="0">
                <a:latin typeface="Arial" panose="020B0604020202020204" pitchFamily="34" charset="0"/>
                <a:cs typeface="Arial" panose="020B0604020202020204" pitchFamily="34" charset="0"/>
              </a:rPr>
              <a:t>AI-based forecasting, physics-informed iceberg trajectory modelling, and explainable, risk-aware routing are integrated into a unified GIS-based decision-support workflow.</a:t>
            </a:r>
          </a:p>
          <a:p>
            <a:pPr>
              <a:spcAft>
                <a:spcPts val="300"/>
              </a:spcAft>
            </a:pPr>
            <a:r>
              <a:rPr lang="en-IN" sz="2500" b="1" dirty="0">
                <a:solidFill>
                  <a:srgbClr val="2E7D56"/>
                </a:solidFill>
                <a:latin typeface="Arial"/>
              </a:rPr>
              <a:t>	Outcome</a:t>
            </a:r>
            <a:r>
              <a:rPr lang="en-IN" sz="2800" b="1" dirty="0">
                <a:solidFill>
                  <a:srgbClr val="2E7D56"/>
                </a:solidFill>
                <a:latin typeface="Arial"/>
              </a:rPr>
              <a:t>: </a:t>
            </a:r>
            <a:r>
              <a:rPr lang="en-IN" sz="2450" dirty="0">
                <a:solidFill>
                  <a:srgbClr val="19232D"/>
                </a:solidFill>
                <a:latin typeface="Arial"/>
              </a:rPr>
              <a:t>One Unified view of hazards, route risks and safer alternatives.</a:t>
            </a:r>
          </a:p>
          <a:p>
            <a:pPr>
              <a:spcAft>
                <a:spcPts val="300"/>
              </a:spcAft>
            </a:pPr>
            <a:endParaRPr lang="en-IN" sz="24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300"/>
              </a:spcAft>
            </a:pPr>
            <a:endParaRPr sz="2450" dirty="0">
              <a:solidFill>
                <a:srgbClr val="303A45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717F5DE-6292-307F-5BB1-44AE335227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4327"/>
            <a:ext cx="1625127" cy="614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395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28073" y="-176934"/>
            <a:ext cx="10972800" cy="1143000"/>
          </a:xfrm>
        </p:spPr>
        <p:txBody>
          <a:bodyPr/>
          <a:lstStyle/>
          <a:p>
            <a:pPr algn="ctr"/>
            <a:r>
              <a:rPr sz="3400" b="1" dirty="0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544782" y="1254397"/>
            <a:ext cx="9779000" cy="19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IN" sz="2500" b="1" dirty="0">
                <a:solidFill>
                  <a:srgbClr val="1F497D"/>
                </a:solidFill>
                <a:latin typeface="Arial"/>
              </a:rPr>
              <a:t>Technology Stack</a:t>
            </a: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IN" sz="1450" dirty="0">
                <a:latin typeface="Arial" panose="020B0604020202020204" pitchFamily="34" charset="0"/>
                <a:cs typeface="Arial" panose="020B0604020202020204" pitchFamily="34" charset="0"/>
              </a:rPr>
              <a:t>Python • PyTorch / TensorFlow • XGBoost • GeoPandas / Rasterio • QGIS/Leaflet • FastAPI</a:t>
            </a:r>
          </a:p>
          <a:p>
            <a:endParaRPr lang="en-IN" sz="2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500" b="1" dirty="0">
                <a:solidFill>
                  <a:srgbClr val="1F497D"/>
                </a:solidFill>
                <a:latin typeface="Arial"/>
              </a:rPr>
              <a:t>Core Models &amp; Algorithms</a:t>
            </a: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IN" sz="1450" dirty="0">
                <a:latin typeface="Arial" panose="020B0604020202020204" pitchFamily="34" charset="0"/>
                <a:cs typeface="Arial" panose="020B0604020202020204" pitchFamily="34" charset="0"/>
              </a:rPr>
              <a:t>U-Net • ConvLSTM • Optical Flow • Physics-informed ML with residual correction • A*/Dijkstra • 	NSGA-II</a:t>
            </a:r>
            <a:endParaRPr lang="en-IN" sz="1450" b="1" dirty="0">
              <a:solidFill>
                <a:srgbClr val="1F497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1085273" y="3700038"/>
            <a:ext cx="1828800" cy="914400"/>
          </a:xfrm>
          <a:prstGeom prst="roundRect">
            <a:avLst/>
          </a:prstGeom>
          <a:solidFill>
            <a:srgbClr val="F2F7FA"/>
          </a:solidFill>
          <a:ln w="254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/>
            <a:r>
              <a:rPr lang="en-IN" sz="1600" b="1" dirty="0">
                <a:solidFill>
                  <a:srgbClr val="1F497D"/>
                </a:solidFill>
                <a:latin typeface="Arial"/>
              </a:rPr>
              <a:t>Data Sources</a:t>
            </a:r>
            <a:endParaRPr sz="1600" b="1" dirty="0">
              <a:solidFill>
                <a:srgbClr val="1F497D"/>
              </a:solidFill>
              <a:latin typeface="Arial"/>
            </a:endParaRPr>
          </a:p>
          <a:p>
            <a:pPr algn="ctr"/>
            <a:r>
              <a:rPr sz="1200" dirty="0">
                <a:solidFill>
                  <a:srgbClr val="19232D"/>
                </a:solidFill>
                <a:latin typeface="Arial"/>
              </a:rPr>
              <a:t>Sentinel-1
NSIDC/AMSR2
ERA5 • GLORYS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142673" y="3700038"/>
            <a:ext cx="1828800" cy="914400"/>
          </a:xfrm>
          <a:prstGeom prst="roundRect">
            <a:avLst/>
          </a:prstGeom>
          <a:solidFill>
            <a:srgbClr val="E5F1F8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/>
            <a:r>
              <a:rPr lang="en-IN" sz="1600" b="1" dirty="0">
                <a:solidFill>
                  <a:srgbClr val="008080"/>
                </a:solidFill>
                <a:latin typeface="Arial"/>
              </a:rPr>
              <a:t>Prediction</a:t>
            </a:r>
            <a:endParaRPr sz="1600" b="1" dirty="0">
              <a:solidFill>
                <a:srgbClr val="008080"/>
              </a:solidFill>
              <a:latin typeface="Arial"/>
            </a:endParaRPr>
          </a:p>
          <a:p>
            <a:pPr algn="ctr"/>
            <a:r>
              <a:rPr lang="en-IN" sz="1200" dirty="0">
                <a:solidFill>
                  <a:srgbClr val="19232D"/>
                </a:solidFill>
                <a:latin typeface="Arial"/>
              </a:rPr>
              <a:t>Sea-Ice Concentration</a:t>
            </a:r>
          </a:p>
          <a:p>
            <a:pPr algn="ctr"/>
            <a:r>
              <a:rPr lang="en-IN" sz="1200" dirty="0">
                <a:solidFill>
                  <a:srgbClr val="19232D"/>
                </a:solidFill>
                <a:latin typeface="Arial"/>
              </a:rPr>
              <a:t>Ice Berg</a:t>
            </a:r>
          </a:p>
          <a:p>
            <a:pPr algn="ctr"/>
            <a:r>
              <a:rPr lang="en-IN" sz="1200" dirty="0">
                <a:solidFill>
                  <a:srgbClr val="19232D"/>
                </a:solidFill>
                <a:latin typeface="Arial"/>
              </a:rPr>
              <a:t>Trajectory Forescasting</a:t>
            </a:r>
            <a:endParaRPr sz="1200" dirty="0">
              <a:solidFill>
                <a:srgbClr val="19232D"/>
              </a:solidFill>
              <a:latin typeface="Arial"/>
            </a:endParaRPr>
          </a:p>
        </p:txBody>
      </p:sp>
      <p:sp>
        <p:nvSpPr>
          <p:cNvPr id="17413" name="Rounded Rectangle 17412"/>
          <p:cNvSpPr/>
          <p:nvPr/>
        </p:nvSpPr>
        <p:spPr>
          <a:xfrm>
            <a:off x="5200073" y="3700038"/>
            <a:ext cx="1828800" cy="914400"/>
          </a:xfrm>
          <a:prstGeom prst="roundRect">
            <a:avLst/>
          </a:prstGeom>
          <a:solidFill>
            <a:srgbClr val="F2F7FA"/>
          </a:solidFill>
          <a:ln w="25400">
            <a:solidFill>
              <a:srgbClr val="2E7D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/>
            <a:r>
              <a:rPr lang="en-IN" sz="1511" b="1" dirty="0">
                <a:solidFill>
                  <a:srgbClr val="2E7D56"/>
                </a:solidFill>
                <a:latin typeface="Arial"/>
              </a:rPr>
              <a:t>Risk Assessment</a:t>
            </a:r>
            <a:endParaRPr sz="1511" b="1" dirty="0">
              <a:solidFill>
                <a:srgbClr val="2E7D56"/>
              </a:solidFill>
              <a:latin typeface="Arial"/>
            </a:endParaRPr>
          </a:p>
          <a:p>
            <a:pPr algn="ctr"/>
            <a:r>
              <a:rPr sz="1200" dirty="0">
                <a:solidFill>
                  <a:srgbClr val="19232D"/>
                </a:solidFill>
                <a:latin typeface="Arial"/>
              </a:rPr>
              <a:t>Risk Index
Hazard Score
Uncertainty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257473" y="3700038"/>
            <a:ext cx="1828800" cy="914400"/>
          </a:xfrm>
          <a:prstGeom prst="roundRect">
            <a:avLst/>
          </a:prstGeom>
          <a:solidFill>
            <a:srgbClr val="F2F7FA"/>
          </a:solidFill>
          <a:ln w="254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/>
            <a:r>
              <a:rPr sz="1370" b="1" dirty="0">
                <a:solidFill>
                  <a:srgbClr val="1F497D"/>
                </a:solidFill>
                <a:latin typeface="Arial"/>
              </a:rPr>
              <a:t>R</a:t>
            </a:r>
            <a:r>
              <a:rPr lang="en-IN" sz="1370" b="1" dirty="0">
                <a:solidFill>
                  <a:srgbClr val="1F497D"/>
                </a:solidFill>
                <a:latin typeface="Arial"/>
              </a:rPr>
              <a:t>oute Optimization</a:t>
            </a:r>
            <a:endParaRPr sz="1370" b="1" dirty="0">
              <a:solidFill>
                <a:srgbClr val="1F497D"/>
              </a:solidFill>
              <a:latin typeface="Arial"/>
            </a:endParaRPr>
          </a:p>
          <a:p>
            <a:pPr algn="ctr"/>
            <a:r>
              <a:rPr sz="1200" dirty="0">
                <a:solidFill>
                  <a:srgbClr val="19232D"/>
                </a:solidFill>
                <a:latin typeface="Arial"/>
              </a:rPr>
              <a:t>Dynamic Graph
A*/Dijkstra
NSGA-II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9314873" y="3700038"/>
            <a:ext cx="1828800" cy="914400"/>
          </a:xfrm>
          <a:prstGeom prst="roundRect">
            <a:avLst/>
          </a:prstGeom>
          <a:solidFill>
            <a:srgbClr val="E5F1F8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rtlCol="0" anchor="ctr"/>
          <a:lstStyle/>
          <a:p>
            <a:pPr algn="ctr"/>
            <a:r>
              <a:rPr sz="1290" b="1" dirty="0">
                <a:solidFill>
                  <a:srgbClr val="008080"/>
                </a:solidFill>
                <a:latin typeface="Arial"/>
              </a:rPr>
              <a:t>D</a:t>
            </a:r>
            <a:r>
              <a:rPr lang="en-IN" sz="1290" b="1" dirty="0">
                <a:solidFill>
                  <a:srgbClr val="008080"/>
                </a:solidFill>
                <a:latin typeface="Arial"/>
              </a:rPr>
              <a:t>ecision Dashboard</a:t>
            </a:r>
            <a:endParaRPr sz="1290" b="1" dirty="0">
              <a:solidFill>
                <a:srgbClr val="008080"/>
              </a:solidFill>
              <a:latin typeface="Arial"/>
            </a:endParaRPr>
          </a:p>
          <a:p>
            <a:pPr algn="ctr"/>
            <a:r>
              <a:rPr lang="en-IN" sz="1200" dirty="0">
                <a:solidFill>
                  <a:srgbClr val="19232D"/>
                </a:solidFill>
                <a:latin typeface="Arial"/>
              </a:rPr>
              <a:t>GIS-based</a:t>
            </a:r>
            <a:r>
              <a:rPr sz="1200" dirty="0">
                <a:solidFill>
                  <a:srgbClr val="19232D"/>
                </a:solidFill>
                <a:latin typeface="Arial"/>
              </a:rPr>
              <a:t> Map
Safe Route
Alternatives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960120" y="5074920"/>
            <a:ext cx="101498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 dirty="0">
                <a:solidFill>
                  <a:srgbClr val="1F497D"/>
                </a:solidFill>
                <a:latin typeface="Arial"/>
              </a:rPr>
              <a:t>Method: Ingest → Align → Predict → Quantify Risk → Optimize → Visualize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D6C12C-AC7E-7253-0643-CCB314183E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4327"/>
            <a:ext cx="1625127" cy="614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647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6356353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solidFill>
                  <a:schemeClr val="tx2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</a:t>
            </a: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 </a:t>
            </a:r>
            <a:r>
              <a:rPr lang="en-US" sz="3600" b="1" dirty="0">
                <a:solidFill>
                  <a:schemeClr val="tx2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403350" y="1595816"/>
            <a:ext cx="9385300" cy="27612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2200">
                <a:latin typeface="Arial"/>
              </a:defRPr>
            </a:pPr>
            <a:r>
              <a:rPr sz="2200" b="1" dirty="0">
                <a:solidFill>
                  <a:srgbClr val="244E7A"/>
                </a:solidFill>
                <a:latin typeface="Arial"/>
              </a:rPr>
              <a:t>Feasibility:</a:t>
            </a:r>
            <a:r>
              <a:rPr sz="2200" dirty="0">
                <a:solidFill>
                  <a:srgbClr val="141414"/>
                </a:solidFill>
                <a:latin typeface="Arial"/>
              </a:rPr>
              <a:t> </a:t>
            </a:r>
            <a:r>
              <a:rPr lang="en-IN" sz="2200" dirty="0"/>
              <a:t>Public datasets and reproducible models make a practical, modular MVP feasible.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2200">
                <a:latin typeface="Arial"/>
              </a:defRPr>
            </a:pPr>
            <a:r>
              <a:rPr sz="2200" b="1" dirty="0">
                <a:solidFill>
                  <a:srgbClr val="CD7723"/>
                </a:solidFill>
                <a:latin typeface="Arial"/>
              </a:rPr>
              <a:t>Key Risks:</a:t>
            </a:r>
            <a:r>
              <a:rPr sz="2200" dirty="0">
                <a:solidFill>
                  <a:srgbClr val="141414"/>
                </a:solidFill>
                <a:latin typeface="Arial"/>
              </a:rPr>
              <a:t> </a:t>
            </a:r>
            <a:r>
              <a:rPr lang="en-IN" sz="2200" dirty="0"/>
              <a:t>Sparse Antarctic ground truth, ice-edge bias, satellite data latency, and computational constraints.</a:t>
            </a:r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2200">
                <a:latin typeface="Arial"/>
              </a:defRPr>
            </a:pPr>
            <a:r>
              <a:rPr sz="2200" b="1" dirty="0">
                <a:solidFill>
                  <a:srgbClr val="148989"/>
                </a:solidFill>
                <a:latin typeface="Arial"/>
              </a:rPr>
              <a:t>Mitigation:</a:t>
            </a:r>
            <a:r>
              <a:rPr lang="en-IN" sz="2200" b="1" dirty="0">
                <a:solidFill>
                  <a:srgbClr val="148989"/>
                </a:solidFill>
                <a:latin typeface="Arial"/>
              </a:rPr>
              <a:t> </a:t>
            </a:r>
            <a:r>
              <a:rPr lang="en-IN" sz="2200" dirty="0"/>
              <a:t>Phase the development: start with U-Net/ConvLSTM, then add uncertainty-aware outputs and physics-informed drift modelling; validate against BYU/NIC, SCAR, and labelled Sentinel-1 data.</a:t>
            </a:r>
            <a:endParaRPr sz="220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2E226AF-502E-5889-B66F-ACE673419E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4327"/>
            <a:ext cx="1625127" cy="614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441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solidFill>
                  <a:schemeClr val="tx2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403349" y="1672336"/>
            <a:ext cx="9385300" cy="28962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25400" tIns="0" rIns="25400" bIns="0">
            <a:spAutoFit/>
          </a:bodyPr>
          <a:lstStyle/>
          <a:p>
            <a:pPr marL="342900" indent="-342900" algn="just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latin typeface="Arial"/>
              </a:defRPr>
            </a:pPr>
            <a:r>
              <a:rPr sz="2100" b="1" dirty="0">
                <a:solidFill>
                  <a:srgbClr val="244E7A"/>
                </a:solidFill>
                <a:latin typeface="Arial"/>
              </a:rPr>
              <a:t>Safer Antarctic Voyages:</a:t>
            </a:r>
            <a:r>
              <a:rPr sz="2100" dirty="0">
                <a:solidFill>
                  <a:srgbClr val="141414"/>
                </a:solidFill>
                <a:latin typeface="Arial"/>
              </a:rPr>
              <a:t> </a:t>
            </a:r>
            <a:r>
              <a:rPr lang="en-IN" sz="2100" dirty="0"/>
              <a:t>Forecasted sea-ice conditions, iceberg detection, and trajectory prediction enable safer route decisions for research vessels.</a:t>
            </a:r>
          </a:p>
          <a:p>
            <a:pPr marL="342900" indent="-342900" algn="just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latin typeface="Arial"/>
              </a:defRPr>
            </a:pPr>
            <a:r>
              <a:rPr sz="2100" b="1" dirty="0">
                <a:solidFill>
                  <a:srgbClr val="148989"/>
                </a:solidFill>
                <a:latin typeface="Arial"/>
              </a:rPr>
              <a:t>Better Operational Decisions:</a:t>
            </a:r>
            <a:r>
              <a:rPr lang="en-IN" sz="2100" b="1" dirty="0">
                <a:solidFill>
                  <a:srgbClr val="148989"/>
                </a:solidFill>
                <a:latin typeface="Arial"/>
              </a:rPr>
              <a:t> </a:t>
            </a:r>
            <a:r>
              <a:rPr lang="en-IN" sz="2100" dirty="0">
                <a:solidFill>
                  <a:srgbClr val="141414"/>
                </a:solidFill>
                <a:latin typeface="Arial"/>
              </a:rPr>
              <a:t>A unified GIS dashboard brings forecast layers, hazard/risk scores, confidence and ranked route alternatives into one operator-facing view.</a:t>
            </a:r>
            <a:endParaRPr sz="2100" dirty="0">
              <a:solidFill>
                <a:srgbClr val="141414"/>
              </a:solidFill>
              <a:latin typeface="Arial"/>
            </a:endParaRPr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latin typeface="Arial"/>
              </a:defRPr>
            </a:pPr>
            <a:r>
              <a:rPr sz="2100" b="1" dirty="0">
                <a:solidFill>
                  <a:srgbClr val="348556"/>
                </a:solidFill>
                <a:latin typeface="Arial"/>
              </a:rPr>
              <a:t>Fuel &amp; Environmental Efficiency:</a:t>
            </a:r>
            <a:r>
              <a:rPr lang="en-IN" sz="2100" b="1" dirty="0">
                <a:solidFill>
                  <a:srgbClr val="348556"/>
                </a:solidFill>
                <a:latin typeface="Arial"/>
              </a:rPr>
              <a:t> </a:t>
            </a:r>
            <a:r>
              <a:rPr lang="en-IN" sz="2100" dirty="0"/>
              <a:t>Multi-objective routing balances risk, travel time, and fuel consumption, enabling operators to compare safer, more efficient route alternatives.</a:t>
            </a:r>
            <a:endParaRPr sz="210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1D96FE-0E2A-58BF-1830-E32973718C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4327"/>
            <a:ext cx="1625127" cy="614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2483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0" y="-47625"/>
            <a:ext cx="115824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solidFill>
                  <a:schemeClr val="tx2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598" y="1648908"/>
            <a:ext cx="10972799" cy="35142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25400" tIns="0" rIns="25400" bIns="0">
            <a:spAutoFit/>
          </a:bodyPr>
          <a:lstStyle/>
          <a:p>
            <a:pPr marR="0" algn="just" defTabSz="457200" rtl="0" eaLnBrk="1" fontAlgn="base" latinLnBrk="0" hangingPunct="1">
              <a:lnSpc>
                <a:spcPct val="98000"/>
              </a:lnSpc>
              <a:spcBef>
                <a:spcPct val="0"/>
              </a:spcBef>
              <a:spcAft>
                <a:spcPts val="200"/>
              </a:spcAft>
              <a:buClrTx/>
              <a:buSzTx/>
              <a:tabLst/>
              <a:defRPr/>
            </a:pPr>
            <a:r>
              <a:rPr b="1" dirty="0">
                <a:solidFill>
                  <a:srgbClr val="244E7A"/>
                </a:solidFill>
                <a:latin typeface="Arial"/>
              </a:rPr>
              <a:t>1. Braakmann-Folgmann et al. (2023)</a:t>
            </a:r>
            <a:r>
              <a:rPr lang="en-IN" b="1" dirty="0">
                <a:solidFill>
                  <a:srgbClr val="244E7A"/>
                </a:solidFill>
                <a:latin typeface="Arial"/>
              </a:rPr>
              <a:t>:</a:t>
            </a:r>
            <a:r>
              <a:rPr b="1" dirty="0">
                <a:solidFill>
                  <a:srgbClr val="244E7A"/>
                </a:solidFill>
                <a:latin typeface="Arial"/>
              </a:rPr>
              <a:t> </a:t>
            </a:r>
            <a:r>
              <a:rPr i="1" dirty="0">
                <a:solidFill>
                  <a:srgbClr val="141414"/>
                </a:solidFill>
                <a:latin typeface="Arial"/>
              </a:rPr>
              <a:t>Mapping the extent of giant Antarctic icebergs with deep learning</a:t>
            </a:r>
            <a:endParaRPr lang="en-IN" i="1" dirty="0">
              <a:solidFill>
                <a:srgbClr val="141414"/>
              </a:solidFill>
              <a:latin typeface="Arial"/>
            </a:endParaRPr>
          </a:p>
          <a:p>
            <a:pPr marR="0" algn="just" defTabSz="457200" rtl="0" eaLnBrk="1" fontAlgn="base" latinLnBrk="0" hangingPunct="1">
              <a:lnSpc>
                <a:spcPct val="98000"/>
              </a:lnSpc>
              <a:spcBef>
                <a:spcPct val="0"/>
              </a:spcBef>
              <a:spcAft>
                <a:spcPts val="200"/>
              </a:spcAft>
              <a:buClrTx/>
              <a:buSzTx/>
              <a:tabLst/>
              <a:defRPr/>
            </a:pPr>
            <a:r>
              <a:rPr b="1" dirty="0">
                <a:solidFill>
                  <a:srgbClr val="348556"/>
                </a:solidFill>
                <a:latin typeface="Arial"/>
              </a:rPr>
              <a:t>  </a:t>
            </a:r>
            <a:endParaRPr dirty="0">
              <a:solidFill>
                <a:srgbClr val="148989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r>
              <a:rPr b="1" dirty="0">
                <a:solidFill>
                  <a:srgbClr val="244E7A"/>
                </a:solidFill>
                <a:latin typeface="Arial"/>
              </a:rPr>
              <a:t>2. Andersson et al. (2021)</a:t>
            </a:r>
            <a:r>
              <a:rPr lang="en-IN" b="1" dirty="0">
                <a:solidFill>
                  <a:srgbClr val="244E7A"/>
                </a:solidFill>
                <a:latin typeface="Arial"/>
              </a:rPr>
              <a:t>: </a:t>
            </a:r>
            <a:r>
              <a:rPr i="1" dirty="0">
                <a:solidFill>
                  <a:srgbClr val="141414"/>
                </a:solidFill>
                <a:latin typeface="Arial"/>
              </a:rPr>
              <a:t>Seasonal Arctic sea ice forecasting with probabilistic deep learning</a:t>
            </a:r>
            <a:r>
              <a:rPr b="1" dirty="0">
                <a:solidFill>
                  <a:srgbClr val="348556"/>
                </a:solidFill>
                <a:latin typeface="Arial"/>
              </a:rPr>
              <a:t> </a:t>
            </a:r>
            <a:endParaRPr lang="en-IN" b="1" dirty="0">
              <a:solidFill>
                <a:srgbClr val="348556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endParaRPr lang="en-IN" b="1" dirty="0">
              <a:solidFill>
                <a:srgbClr val="348556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r>
              <a:rPr b="1" dirty="0">
                <a:solidFill>
                  <a:srgbClr val="244E7A"/>
                </a:solidFill>
                <a:latin typeface="Arial"/>
              </a:rPr>
              <a:t>3. Wang et al. (2023)</a:t>
            </a:r>
            <a:r>
              <a:rPr lang="en-IN" b="1" dirty="0">
                <a:solidFill>
                  <a:srgbClr val="244E7A"/>
                </a:solidFill>
                <a:latin typeface="Arial"/>
              </a:rPr>
              <a:t>:</a:t>
            </a:r>
            <a:r>
              <a:rPr b="1" dirty="0">
                <a:solidFill>
                  <a:srgbClr val="244E7A"/>
                </a:solidFill>
                <a:latin typeface="Arial"/>
              </a:rPr>
              <a:t> </a:t>
            </a:r>
            <a:r>
              <a:rPr i="1" dirty="0">
                <a:solidFill>
                  <a:srgbClr val="141414"/>
                </a:solidFill>
                <a:latin typeface="Arial"/>
              </a:rPr>
              <a:t>Subseasonal Prediction of Regional Antarctic Sea Ice by a Deep Learning Model</a:t>
            </a:r>
            <a:r>
              <a:rPr b="1" dirty="0">
                <a:solidFill>
                  <a:srgbClr val="348556"/>
                </a:solidFill>
                <a:latin typeface="Arial"/>
              </a:rPr>
              <a:t> </a:t>
            </a:r>
            <a:endParaRPr lang="en-IN" b="1" dirty="0">
              <a:solidFill>
                <a:srgbClr val="348556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endParaRPr lang="en-IN" b="1" dirty="0">
              <a:solidFill>
                <a:srgbClr val="348556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r>
              <a:rPr b="1" dirty="0">
                <a:solidFill>
                  <a:srgbClr val="244E7A"/>
                </a:solidFill>
                <a:latin typeface="Arial"/>
              </a:rPr>
              <a:t>4. Hui et al. (2017)</a:t>
            </a:r>
            <a:r>
              <a:rPr lang="en-IN" b="1" dirty="0">
                <a:solidFill>
                  <a:srgbClr val="244E7A"/>
                </a:solidFill>
                <a:latin typeface="Arial"/>
              </a:rPr>
              <a:t>: </a:t>
            </a:r>
            <a:r>
              <a:rPr i="1" dirty="0">
                <a:solidFill>
                  <a:srgbClr val="141414"/>
                </a:solidFill>
                <a:latin typeface="Arial"/>
              </a:rPr>
              <a:t>Satellite-Based Sea Ice Navigation for Prydz Bay, East Antarctica</a:t>
            </a:r>
            <a:endParaRPr lang="en-IN" i="1" dirty="0">
              <a:solidFill>
                <a:srgbClr val="141414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endParaRPr lang="en-IN" b="1" i="1" dirty="0">
              <a:solidFill>
                <a:srgbClr val="348556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r>
              <a:rPr b="1" dirty="0">
                <a:solidFill>
                  <a:srgbClr val="244E7A"/>
                </a:solidFill>
                <a:latin typeface="Arial"/>
              </a:rPr>
              <a:t>5. Liu et al. (2025)</a:t>
            </a:r>
            <a:r>
              <a:rPr lang="en-IN" b="1" dirty="0">
                <a:solidFill>
                  <a:srgbClr val="244E7A"/>
                </a:solidFill>
                <a:latin typeface="Arial"/>
              </a:rPr>
              <a:t>: </a:t>
            </a:r>
            <a:r>
              <a:rPr i="1" dirty="0">
                <a:solidFill>
                  <a:srgbClr val="141414"/>
                </a:solidFill>
                <a:latin typeface="Arial"/>
              </a:rPr>
              <a:t>Vessel Safety Navigation Under the Influence of Antarctic Sea Ice</a:t>
            </a:r>
            <a:r>
              <a:rPr b="1" dirty="0">
                <a:solidFill>
                  <a:srgbClr val="348556"/>
                </a:solidFill>
                <a:latin typeface="Arial"/>
              </a:rPr>
              <a:t> </a:t>
            </a:r>
            <a:endParaRPr lang="en-IN" b="1" dirty="0">
              <a:solidFill>
                <a:srgbClr val="348556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endParaRPr lang="en-IN" b="1" dirty="0">
              <a:solidFill>
                <a:srgbClr val="348556"/>
              </a:solidFill>
              <a:latin typeface="Arial"/>
            </a:endParaRPr>
          </a:p>
          <a:p>
            <a:pPr>
              <a:lnSpc>
                <a:spcPct val="98000"/>
              </a:lnSpc>
              <a:spcAft>
                <a:spcPts val="200"/>
              </a:spcAft>
            </a:pPr>
            <a:r>
              <a:rPr b="1" dirty="0">
                <a:solidFill>
                  <a:srgbClr val="244E7A"/>
                </a:solidFill>
                <a:latin typeface="Arial"/>
              </a:rPr>
              <a:t>6. Budge &amp; Long (2018)</a:t>
            </a:r>
            <a:r>
              <a:rPr lang="en-IN" b="1" dirty="0">
                <a:solidFill>
                  <a:srgbClr val="244E7A"/>
                </a:solidFill>
                <a:latin typeface="Arial"/>
              </a:rPr>
              <a:t>: </a:t>
            </a:r>
            <a:r>
              <a:rPr i="1" dirty="0">
                <a:solidFill>
                  <a:srgbClr val="141414"/>
                </a:solidFill>
                <a:latin typeface="Arial"/>
              </a:rPr>
              <a:t>A Comprehensive Database for Antarctic Iceberg Tracking Using Scatterometer Data</a:t>
            </a:r>
            <a:endParaRPr dirty="0">
              <a:solidFill>
                <a:srgbClr val="525252"/>
              </a:solidFill>
              <a:latin typeface="Arial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8BA5C44-B32F-DF87-1702-3DA5220986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4327"/>
            <a:ext cx="1625127" cy="614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602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7630</TotalTime>
  <Words>554</Words>
  <Application>Microsoft Office PowerPoint</Application>
  <PresentationFormat>Widescreen</PresentationFormat>
  <Paragraphs>68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      SMART INDIA HACKATHON 2026</vt:lpstr>
      <vt:lpstr> ANTARCTIC TRAVERSE Predict the ice. Understand the risk. Traverse Antarctica safely.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Aryan Patel</cp:lastModifiedBy>
  <cp:revision>155</cp:revision>
  <dcterms:created xsi:type="dcterms:W3CDTF">2013-12-12T18:46:50Z</dcterms:created>
  <dcterms:modified xsi:type="dcterms:W3CDTF">2026-09-02T15:19:25Z</dcterms:modified>
  <cp:category/>
</cp:coreProperties>
</file>